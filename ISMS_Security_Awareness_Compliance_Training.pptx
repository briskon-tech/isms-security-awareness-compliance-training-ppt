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76" r:id="rId2"/>
    <p:sldId id="256" r:id="rId3"/>
    <p:sldId id="257" r:id="rId4"/>
    <p:sldId id="258" r:id="rId5"/>
    <p:sldId id="273" r:id="rId6"/>
    <p:sldId id="274" r:id="rId7"/>
    <p:sldId id="275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 snapToObjects="1">
      <p:cViewPr>
        <p:scale>
          <a:sx n="75" d="100"/>
          <a:sy n="75" d="100"/>
        </p:scale>
        <p:origin x="811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BE33F2-21CD-50E3-A635-69D14EC226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EF9B849-B478-D9FE-63F9-C52E7C58E038}"/>
              </a:ext>
            </a:extLst>
          </p:cNvPr>
          <p:cNvSpPr txBox="1"/>
          <p:nvPr/>
        </p:nvSpPr>
        <p:spPr>
          <a:xfrm>
            <a:off x="2117154" y="2679289"/>
            <a:ext cx="7957691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ISMS Security Awareness &amp; Compliance Training</a:t>
            </a:r>
          </a:p>
          <a:p>
            <a:pPr algn="ctr">
              <a:defRPr sz="2200">
                <a:solidFill>
                  <a:srgbClr val="2D66B4"/>
                </a:solidFill>
              </a:defRPr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Briskon Technologies Pvt. Ltd.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8C45EA8-EB45-4D4C-C696-79560DC967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6024" y="111780"/>
            <a:ext cx="692212" cy="70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96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9A0C56D7-EB25-3FF5-246D-A38E99AA9B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3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881360" cy="618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600" b="1">
                <a:solidFill>
                  <a:srgbClr val="FFFFFF"/>
                </a:solidFill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ISMS Security Awareness &amp; Compliance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577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400" b="1">
                <a:solidFill>
                  <a:srgbClr val="275DAD"/>
                </a:solidFill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2026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10789920" cy="476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900" b="0">
                <a:solidFill>
                  <a:srgbClr val="232D37"/>
                </a:solidFill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Protecting Our Information Assets Under ISO/IEC 27001:2022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880360"/>
            <a:ext cx="10287000" cy="436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  <a:defRPr sz="1700" b="0">
                <a:solidFill>
                  <a:srgbClr val="232D37"/>
                </a:solidFill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Organization: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Briskon Technologies Pvt. Ltd.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593591"/>
            <a:ext cx="10287000" cy="436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  <a:defRPr sz="1700" b="0">
                <a:solidFill>
                  <a:srgbClr val="232D37"/>
                </a:solidFill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Target Audience: All Personnel, Contractors, and Third-Party 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4306824"/>
            <a:ext cx="10287000" cy="436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  <a:defRPr sz="1700" b="0">
                <a:solidFill>
                  <a:srgbClr val="232D37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Document ID: ISMS-TRN-001 | Version: v1.0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5020056"/>
            <a:ext cx="10287000" cy="436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  <a:defRPr sz="1700" b="0">
                <a:solidFill>
                  <a:srgbClr val="232D37"/>
                </a:solidFill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Presenter / Authority: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Bharath G (IT Admin)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87552" y="5733288"/>
            <a:ext cx="10287000" cy="436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  <a:defRPr sz="1700" b="0">
                <a:solidFill>
                  <a:srgbClr val="232D37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Auditor Note: Satisfies Clause 7.5 (Documented Information) versioning rules.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5486400" cy="274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900" b="0">
                <a:solidFill>
                  <a:srgbClr val="646E78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ISMS-TRN-001 | v1.0 | Internal Use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98C6751-C006-A07B-C7E2-5372725CB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116" y="119469"/>
            <a:ext cx="854647" cy="7250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AEF8EB83-3AB0-20FB-DCC1-33B7E00325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3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8813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The Human Element in Cyber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1417320"/>
            <a:ext cx="10287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  <a:defRPr sz="1700" b="0">
                <a:solidFill>
                  <a:srgbClr val="232D37"/>
                </a:solidFill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80%+ of Data Breaches involve human error, weak credentials, or phishing.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130552"/>
            <a:ext cx="10287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  <a:defRPr sz="1700" b="0">
                <a:solidFill>
                  <a:srgbClr val="232D37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Security is a shared operational responsibility, not just an IT department function.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843784"/>
            <a:ext cx="10287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  <a:defRPr sz="1700" b="0">
                <a:solidFill>
                  <a:srgbClr val="232D37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Our Goal: Foster a strong security culture to protect client data, corporate assets, and business reputation.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557016"/>
            <a:ext cx="10287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  <a:defRPr sz="1700" b="0">
                <a:solidFill>
                  <a:srgbClr val="232D37"/>
                </a:solidFill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ISO 27001 compliance supports business continuity and customer trust.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6E78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ISMS-TRN-001 | v1.0 | Internal Use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71E73D3-E94A-726D-3739-16E801A5C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116" y="119469"/>
            <a:ext cx="854647" cy="72502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466B42AD-2502-D8C3-954B-0B3E1ECBA4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3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8813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ISO/IEC 27001:2022 &amp; The CIA Triad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1417320"/>
            <a:ext cx="10287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  <a:defRPr sz="1700" b="0">
                <a:solidFill>
                  <a:srgbClr val="232D37"/>
                </a:solidFill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Information Security Management System (ISMS): Our structured framework for managing data security risks.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130552"/>
            <a:ext cx="10287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  <a:defRPr sz="1700" b="0">
                <a:solidFill>
                  <a:srgbClr val="232D37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Confidentiality — Information is accessible only to authorized personnel.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843784"/>
            <a:ext cx="10287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  <a:defRPr sz="1700" b="0">
                <a:solidFill>
                  <a:srgbClr val="232D37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Integrity — Safeguarding the accuracy and completeness of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557016"/>
            <a:ext cx="10287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  <a:defRPr sz="1700" b="0">
                <a:solidFill>
                  <a:srgbClr val="232D37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Availability — Ensuring authorized users have timely access to critical systems.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270248"/>
            <a:ext cx="10287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  <a:defRPr sz="1700" b="0">
                <a:solidFill>
                  <a:srgbClr val="232D37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ISO Requirement: Every employee must understand and align with our Information Security Policy.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6E78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ISMS-TRN-001 | v1.0 | Internal Use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ECC1579-C86B-8190-5C3D-13AD03BE4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116" y="119469"/>
            <a:ext cx="854647" cy="72502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2053B5A-CC52-C8EC-309E-E0FDDC4324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3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8813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ISO/IEC 27001:2022 &amp; The CIA Triad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6E78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ISMS-TRN-001 | v1.0 | Internal Use</a:t>
            </a:r>
          </a:p>
        </p:txBody>
      </p:sp>
      <p:sp>
        <p:nvSpPr>
          <p:cNvPr id="16" name="Text Box 15"/>
          <p:cNvSpPr txBox="1"/>
          <p:nvPr/>
        </p:nvSpPr>
        <p:spPr>
          <a:xfrm>
            <a:off x="1552575" y="1461770"/>
            <a:ext cx="8611235" cy="4478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600" b="1" dirty="0">
                <a:latin typeface="Arial" panose="020B0604020202020204" pitchFamily="34" charset="0"/>
                <a:cs typeface="Arial" panose="020B0604020202020204" pitchFamily="34" charset="0"/>
              </a:rPr>
              <a:t>Confidentiality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— Protect Information from Unauthorized Access</a:t>
            </a: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What it means: Information is accessible only to authorized individuals, systems, and processes. </a:t>
            </a: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Why it matters: Prevents unauthorized disclosure of customer, employee, financial, and business information. </a:t>
            </a: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Your responsibilities:</a:t>
            </a:r>
          </a:p>
          <a:p>
            <a:pPr lvl="1">
              <a:lnSpc>
                <a:spcPct val="150000"/>
              </a:lnSpc>
              <a:buFont typeface="Arial" panose="020B0604020202020204"/>
              <a:buChar char="◦"/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Use strong passwords and MFA. </a:t>
            </a:r>
          </a:p>
          <a:p>
            <a:pPr lvl="1">
              <a:lnSpc>
                <a:spcPct val="150000"/>
              </a:lnSpc>
              <a:buFont typeface="Arial" panose="020B0604020202020204"/>
              <a:buChar char="◦"/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Share information only with authorized recipients. </a:t>
            </a:r>
          </a:p>
          <a:p>
            <a:pPr lvl="1">
              <a:lnSpc>
                <a:spcPct val="150000"/>
              </a:lnSpc>
              <a:buFont typeface="Arial" panose="020B0604020202020204"/>
              <a:buChar char="◦"/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Follow data classification and handling requirements. </a:t>
            </a:r>
          </a:p>
          <a:p>
            <a:pPr lvl="1">
              <a:lnSpc>
                <a:spcPct val="150000"/>
              </a:lnSpc>
              <a:buFont typeface="Arial" panose="020B0604020202020204"/>
              <a:buChar char="◦"/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Never upload confidential information to unapproved applications or AI tools. </a:t>
            </a: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Examples of threats: Phishing, unauthorized access, accidental disclosure, stolen devices. </a:t>
            </a: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Remember:“Only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the right people should see it.”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99BF8F-14F0-5D7E-6168-922BC5906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116" y="119469"/>
            <a:ext cx="854647" cy="72502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8AF8B4E-69A1-8055-86AD-F61E43566E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3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8813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ISO/IEC 27001:2022 &amp; The CIA Triad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6E78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ISMS-TRN-001 | v1.0 | Internal Use</a:t>
            </a:r>
          </a:p>
        </p:txBody>
      </p:sp>
      <p:sp>
        <p:nvSpPr>
          <p:cNvPr id="16" name="Text Box 15"/>
          <p:cNvSpPr txBox="1"/>
          <p:nvPr/>
        </p:nvSpPr>
        <p:spPr>
          <a:xfrm>
            <a:off x="1397000" y="1349375"/>
            <a:ext cx="8611235" cy="48479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Integrity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— Keep Information Accurate and Trustworthy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What it means: Information remains accurate, complete, consistent, and protected from unauthorized modification.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Why it matters: Incorrect or manipulated information can lead to financial loss, operational failures, and poor business decisions.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Your responsibilities: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Verify information before making critical changes.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Follow change-management and approval processes.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Protect systems and files from unauthorized modification.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Report suspicious changes or data discrepancies immediately.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Examples of threats: Malware, unauthorized edits, compromised accounts, incorrect data entry.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Remember: “Information must remain accurate and trustworthy.”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1FE465-4234-DEBD-B1BB-F50F11396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116" y="119469"/>
            <a:ext cx="854647" cy="7250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6D74D73-813D-90ED-2D35-4A93BA7E85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3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8813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ISO/IEC 27001:2022 &amp; The CIA Triad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6E78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ISMS-TRN-001 | v1.0 | Internal Use</a:t>
            </a:r>
          </a:p>
        </p:txBody>
      </p:sp>
      <p:sp>
        <p:nvSpPr>
          <p:cNvPr id="16" name="Text Box 15"/>
          <p:cNvSpPr txBox="1"/>
          <p:nvPr/>
        </p:nvSpPr>
        <p:spPr>
          <a:xfrm>
            <a:off x="1552575" y="1461770"/>
            <a:ext cx="8611235" cy="48926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Availability — Ensure Information Is Accessible When Needed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What it means: Authorized users can access systems and information when required for business operations.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Why it matters: System outages can disrupt customers, employees, revenue, and critical business processes.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Your responsibilities: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Report outages and system failures promptly.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Follow business continuity and disaster recovery procedures.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Protect devices and accounts from compromise.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Participate in backup, recovery, and continuity exercises when required.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Examples of threats: Ransomware, hardware failures, network outages, power disruption, denial-of-service attacks.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Remember: “The right information must be available at the right time.”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AB46AC-0296-AA2C-5C14-8409039219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116" y="119469"/>
            <a:ext cx="854647" cy="72502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D22C8F4E-15A1-CFC2-E55A-37A22F1EC6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3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8813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Individual Accountability Under Clause 7.3</a:t>
            </a:r>
          </a:p>
        </p:txBody>
      </p:sp>
      <p:sp>
        <p:nvSpPr>
          <p:cNvPr id="5" name="Oval 4"/>
          <p:cNvSpPr/>
          <p:nvPr/>
        </p:nvSpPr>
        <p:spPr>
          <a:xfrm>
            <a:off x="749808" y="1490472"/>
            <a:ext cx="118872" cy="118872"/>
          </a:xfrm>
          <a:prstGeom prst="ellipse">
            <a:avLst/>
          </a:prstGeom>
          <a:solidFill>
            <a:srgbClr val="49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87552" y="1417320"/>
            <a:ext cx="10287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7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Comply with all established security policies and SOPs.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203704"/>
            <a:ext cx="118872" cy="118872"/>
          </a:xfrm>
          <a:prstGeom prst="ellipse">
            <a:avLst/>
          </a:prstGeom>
          <a:solidFill>
            <a:srgbClr val="49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7552" y="2130552"/>
            <a:ext cx="10287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7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Protect credentials, devices, and client information.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2916936"/>
            <a:ext cx="118872" cy="118872"/>
          </a:xfrm>
          <a:prstGeom prst="ellipse">
            <a:avLst/>
          </a:prstGeom>
          <a:solidFill>
            <a:srgbClr val="49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87552" y="2843784"/>
            <a:ext cx="10287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7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Report potential security threats or incidents immediately.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3630168"/>
            <a:ext cx="118872" cy="118872"/>
          </a:xfrm>
          <a:prstGeom prst="ellipse">
            <a:avLst/>
          </a:prstGeom>
          <a:solidFill>
            <a:srgbClr val="49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87552" y="3557016"/>
            <a:ext cx="10287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7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Policy violations can expose the organization to legal liabilities, data loss, and client breach penalties.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4343400"/>
            <a:ext cx="118872" cy="118872"/>
          </a:xfrm>
          <a:prstGeom prst="ellipse">
            <a:avLst/>
          </a:prstGeom>
          <a:solidFill>
            <a:srgbClr val="49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87552" y="4270248"/>
            <a:ext cx="10287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7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Disciplinary actions up to contract termination may apply, as defined in HR policies (Annex A 6.4).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6E78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ISMS-TRN-001 | v1.0 | Internal Use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EA88D43-26D5-4C1D-800D-6613A40D27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116" y="119469"/>
            <a:ext cx="854647" cy="7250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73927CAC-B7CD-1829-711F-50B374DD4B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3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8813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Protecting Digital Identities</a:t>
            </a:r>
          </a:p>
        </p:txBody>
      </p:sp>
      <p:sp>
        <p:nvSpPr>
          <p:cNvPr id="5" name="Oval 4"/>
          <p:cNvSpPr/>
          <p:nvPr/>
        </p:nvSpPr>
        <p:spPr>
          <a:xfrm>
            <a:off x="749808" y="1490472"/>
            <a:ext cx="118872" cy="118872"/>
          </a:xfrm>
          <a:prstGeom prst="ellipse">
            <a:avLst/>
          </a:prstGeom>
          <a:solidFill>
            <a:srgbClr val="49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87552" y="1417320"/>
            <a:ext cx="10287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7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Principle of Least Privilege: Access is granted only to systems required for your job role.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203704"/>
            <a:ext cx="118872" cy="118872"/>
          </a:xfrm>
          <a:prstGeom prst="ellipse">
            <a:avLst/>
          </a:prstGeom>
          <a:solidFill>
            <a:srgbClr val="49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7552" y="2130552"/>
            <a:ext cx="10287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7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Password rules: Use 12–16+ character passphrases or approved password managers.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2916936"/>
            <a:ext cx="118872" cy="118872"/>
          </a:xfrm>
          <a:prstGeom prst="ellipse">
            <a:avLst/>
          </a:prstGeom>
          <a:solidFill>
            <a:srgbClr val="49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87552" y="2843784"/>
            <a:ext cx="10287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7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Never reuse work passwords across personal accounts.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3630168"/>
            <a:ext cx="118872" cy="118872"/>
          </a:xfrm>
          <a:prstGeom prst="ellipse">
            <a:avLst/>
          </a:prstGeom>
          <a:solidFill>
            <a:srgbClr val="49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87552" y="3557016"/>
            <a:ext cx="10287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7"/>
                </a:solidFill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Zero Password Sharing: Never share credentials with colleagues, managers, or IT staff.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4343400"/>
            <a:ext cx="118872" cy="118872"/>
          </a:xfrm>
          <a:prstGeom prst="ellipse">
            <a:avLst/>
          </a:prstGeom>
          <a:solidFill>
            <a:srgbClr val="49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87552" y="4270248"/>
            <a:ext cx="10287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7"/>
                </a:solidFill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MFA is mandatory on Google Workspace,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GitHub, and internal portals. Always verify authenticator prompts.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6E78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ISMS-TRN-001 | v1.0 | Internal Use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8DC917F-EB82-62BB-BEFD-D7427B38D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116" y="119469"/>
            <a:ext cx="854647" cy="72502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8436854E-0344-DCA5-9F79-9F83F67807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3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8813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Securing Laptops &amp; Workstations</a:t>
            </a:r>
          </a:p>
        </p:txBody>
      </p:sp>
      <p:sp>
        <p:nvSpPr>
          <p:cNvPr id="5" name="Oval 4"/>
          <p:cNvSpPr/>
          <p:nvPr/>
        </p:nvSpPr>
        <p:spPr>
          <a:xfrm>
            <a:off x="749808" y="1490472"/>
            <a:ext cx="118872" cy="118872"/>
          </a:xfrm>
          <a:prstGeom prst="ellipse">
            <a:avLst/>
          </a:prstGeom>
          <a:solidFill>
            <a:srgbClr val="49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87552" y="1417320"/>
            <a:ext cx="10287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7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Lock screens every time you step away: Win + L / Cmd + Ctrl + Q.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203704"/>
            <a:ext cx="118872" cy="118872"/>
          </a:xfrm>
          <a:prstGeom prst="ellipse">
            <a:avLst/>
          </a:prstGeom>
          <a:solidFill>
            <a:srgbClr val="49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7552" y="2130552"/>
            <a:ext cx="10287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7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Clean Desk &amp; Clear Screen: Do not expose physical documents, credentials, or post-it notes.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2916936"/>
            <a:ext cx="118872" cy="118872"/>
          </a:xfrm>
          <a:prstGeom prst="ellipse">
            <a:avLst/>
          </a:prstGeom>
          <a:solidFill>
            <a:srgbClr val="49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87552" y="2843784"/>
            <a:ext cx="10287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7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Clear whiteboards and desk surfaces at the end of the workday.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3630168"/>
            <a:ext cx="118872" cy="118872"/>
          </a:xfrm>
          <a:prstGeom prst="ellipse">
            <a:avLst/>
          </a:prstGeom>
          <a:solidFill>
            <a:srgbClr val="49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87552" y="3557016"/>
            <a:ext cx="10287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7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Use company-issued devices only for authorized business tasks.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4343400"/>
            <a:ext cx="118872" cy="118872"/>
          </a:xfrm>
          <a:prstGeom prst="ellipse">
            <a:avLst/>
          </a:prstGeom>
          <a:solidFill>
            <a:srgbClr val="49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87552" y="4270248"/>
            <a:ext cx="10287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7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Never connect to unencrypted public Wi-Fi without an active corporate VPN.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5056632"/>
            <a:ext cx="118872" cy="118872"/>
          </a:xfrm>
          <a:prstGeom prst="ellipse">
            <a:avLst/>
          </a:prstGeom>
          <a:solidFill>
            <a:srgbClr val="49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87552" y="4983480"/>
            <a:ext cx="10287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7"/>
                </a:solidFill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Ensure full-disk encryption (BitLocker) is enabled.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6E78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ISMS-TRN-001 | v1.0 | Internal Use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F02AAFD-8759-C70B-E1D4-14C0C6A851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116" y="119469"/>
            <a:ext cx="854647" cy="72502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3B7C9A9E-729F-32C0-45A8-E610206171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3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8813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Email, SMS, and Chat Security</a:t>
            </a:r>
          </a:p>
        </p:txBody>
      </p:sp>
      <p:sp>
        <p:nvSpPr>
          <p:cNvPr id="5" name="Oval 4"/>
          <p:cNvSpPr/>
          <p:nvPr/>
        </p:nvSpPr>
        <p:spPr>
          <a:xfrm>
            <a:off x="749808" y="1490472"/>
            <a:ext cx="118872" cy="118872"/>
          </a:xfrm>
          <a:prstGeom prst="ellipse">
            <a:avLst/>
          </a:prstGeom>
          <a:solidFill>
            <a:srgbClr val="49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87552" y="1417320"/>
            <a:ext cx="10287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7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Common attack vectors: Phishing (Email), Smishing (SMS), and Impersonation (Slack/Teams).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203704"/>
            <a:ext cx="118872" cy="118872"/>
          </a:xfrm>
          <a:prstGeom prst="ellipse">
            <a:avLst/>
          </a:prstGeom>
          <a:solidFill>
            <a:srgbClr val="49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7552" y="2130552"/>
            <a:ext cx="10287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7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Red flags: domain misspellings, urgency and pressure, suspicious links, unexpected attachments.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2916936"/>
            <a:ext cx="118872" cy="118872"/>
          </a:xfrm>
          <a:prstGeom prst="ellipse">
            <a:avLst/>
          </a:prstGeom>
          <a:solidFill>
            <a:srgbClr val="49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87552" y="2843784"/>
            <a:ext cx="10287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7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Watch for requests involving wire transfers, gift cards, password resets, or sensitive data.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3630168"/>
            <a:ext cx="118872" cy="118872"/>
          </a:xfrm>
          <a:prstGeom prst="ellipse">
            <a:avLst/>
          </a:prstGeom>
          <a:solidFill>
            <a:srgbClr val="49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87552" y="3557016"/>
            <a:ext cx="10287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7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Treat unexpected .exe, .zip, or macro-enabled files with caution.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4343400"/>
            <a:ext cx="118872" cy="118872"/>
          </a:xfrm>
          <a:prstGeom prst="ellipse">
            <a:avLst/>
          </a:prstGeom>
          <a:solidFill>
            <a:srgbClr val="49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87552" y="4270248"/>
            <a:ext cx="10287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7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Golden Rule: Verify unusual requests through an independent secondary channel.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6E78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ISMS-TRN-001 | v1.0 | Internal Use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26AB212-DDBC-CC64-AECB-61903DBFBE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116" y="119469"/>
            <a:ext cx="854647" cy="72502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CBC9AD6A-8C04-3DC8-693C-D3B9F56CBB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3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8813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Defending Against Targeted Executive Fraud</a:t>
            </a:r>
          </a:p>
        </p:txBody>
      </p:sp>
      <p:sp>
        <p:nvSpPr>
          <p:cNvPr id="5" name="Oval 4"/>
          <p:cNvSpPr/>
          <p:nvPr/>
        </p:nvSpPr>
        <p:spPr>
          <a:xfrm>
            <a:off x="749808" y="1490472"/>
            <a:ext cx="118872" cy="118872"/>
          </a:xfrm>
          <a:prstGeom prst="ellipse">
            <a:avLst/>
          </a:prstGeom>
          <a:solidFill>
            <a:srgbClr val="49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87552" y="1417320"/>
            <a:ext cx="10287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7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What is BEC? Attackers impersonate executives, vendors, or clients to manipulate financial transactions or data.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404872"/>
            <a:ext cx="118872" cy="118872"/>
          </a:xfrm>
          <a:prstGeom prst="ellipse">
            <a:avLst/>
          </a:prstGeom>
          <a:solidFill>
            <a:srgbClr val="49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7552" y="2331720"/>
            <a:ext cx="10287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7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Example: “Change vendor bank account details on this pending invoice.”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118104"/>
            <a:ext cx="118872" cy="118872"/>
          </a:xfrm>
          <a:prstGeom prst="ellipse">
            <a:avLst/>
          </a:prstGeom>
          <a:solidFill>
            <a:srgbClr val="49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87552" y="3044952"/>
            <a:ext cx="10287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7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Example: “Send over the employee salary spreadsheet urgently.”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3831336"/>
            <a:ext cx="118872" cy="118872"/>
          </a:xfrm>
          <a:prstGeom prst="ellipse">
            <a:avLst/>
          </a:prstGeom>
          <a:solidFill>
            <a:srgbClr val="49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87552" y="3758184"/>
            <a:ext cx="10287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7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Mandatory: Dual authorization for bank account updates or payments.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4544568"/>
            <a:ext cx="118872" cy="118872"/>
          </a:xfrm>
          <a:prstGeom prst="ellipse">
            <a:avLst/>
          </a:prstGeom>
          <a:solidFill>
            <a:srgbClr val="49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87552" y="4471416"/>
            <a:ext cx="10287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7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Use verbal confirmation via verified phone numbers for sensitive requests.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6E78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ISMS-TRN-001 | v1.0 | Internal Use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17EAFA3-5D85-014B-73BA-A6704DB027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116" y="119469"/>
            <a:ext cx="854647" cy="72502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26284A6C-3EE0-013B-6D49-2183ACE8D2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3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8813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Classifying &amp; Protecting Information</a:t>
            </a:r>
          </a:p>
        </p:txBody>
      </p:sp>
      <p:sp>
        <p:nvSpPr>
          <p:cNvPr id="5" name="Oval 4"/>
          <p:cNvSpPr/>
          <p:nvPr/>
        </p:nvSpPr>
        <p:spPr>
          <a:xfrm>
            <a:off x="749808" y="1490472"/>
            <a:ext cx="118872" cy="118872"/>
          </a:xfrm>
          <a:prstGeom prst="ellipse">
            <a:avLst/>
          </a:prstGeom>
          <a:solidFill>
            <a:srgbClr val="49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87552" y="1417320"/>
            <a:ext cx="10287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7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PUBLIC — Approved for marketing or external release.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203704"/>
            <a:ext cx="118872" cy="118872"/>
          </a:xfrm>
          <a:prstGeom prst="ellipse">
            <a:avLst/>
          </a:prstGeom>
          <a:solidFill>
            <a:srgbClr val="49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7552" y="2130552"/>
            <a:ext cx="10287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7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INTERNAL — Operational documents, internal newsletters, team guidelines.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2916936"/>
            <a:ext cx="118872" cy="118872"/>
          </a:xfrm>
          <a:prstGeom prst="ellipse">
            <a:avLst/>
          </a:prstGeom>
          <a:solidFill>
            <a:srgbClr val="49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87552" y="2843784"/>
            <a:ext cx="10287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7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CONFIDENTIAL / RESTRICTED — Customer PII, source code, financial records, API keys, passwords.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3630168"/>
            <a:ext cx="118872" cy="118872"/>
          </a:xfrm>
          <a:prstGeom prst="ellipse">
            <a:avLst/>
          </a:prstGeom>
          <a:solidFill>
            <a:srgbClr val="49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87552" y="3557016"/>
            <a:ext cx="10287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7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Never upload confidential company code or client data to unapproved public AI tools.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4343400"/>
            <a:ext cx="118872" cy="118872"/>
          </a:xfrm>
          <a:prstGeom prst="ellipse">
            <a:avLst/>
          </a:prstGeom>
          <a:solidFill>
            <a:srgbClr val="49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87552" y="4270248"/>
            <a:ext cx="10287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7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Store and share files only through approved cloud drives (Google Drive / OneDrive / SharePoint).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5056632"/>
            <a:ext cx="118872" cy="118872"/>
          </a:xfrm>
          <a:prstGeom prst="ellipse">
            <a:avLst/>
          </a:prstGeom>
          <a:solidFill>
            <a:srgbClr val="49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87552" y="4983480"/>
            <a:ext cx="10287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7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Do not store customer data on local desktop drives or personal cloud drives.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6E78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ISMS-TRN-001 | v1.0 | Internal Use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8E334E7-B190-7E43-B5FB-93F7ACF90C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116" y="119469"/>
            <a:ext cx="854647" cy="72502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8C62B0AB-B846-DFB5-7347-798359A09E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3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8813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DevSecOps &amp; Operational Security</a:t>
            </a:r>
          </a:p>
        </p:txBody>
      </p:sp>
      <p:sp>
        <p:nvSpPr>
          <p:cNvPr id="5" name="Oval 4"/>
          <p:cNvSpPr/>
          <p:nvPr/>
        </p:nvSpPr>
        <p:spPr>
          <a:xfrm>
            <a:off x="749808" y="1490472"/>
            <a:ext cx="118872" cy="118872"/>
          </a:xfrm>
          <a:prstGeom prst="ellipse">
            <a:avLst/>
          </a:prstGeom>
          <a:solidFill>
            <a:srgbClr val="49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87552" y="1417320"/>
            <a:ext cx="10287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7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Technical, Product &amp; Operations Staff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203704"/>
            <a:ext cx="118872" cy="118872"/>
          </a:xfrm>
          <a:prstGeom prst="ellipse">
            <a:avLst/>
          </a:prstGeom>
          <a:solidFill>
            <a:srgbClr val="49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7552" y="2130552"/>
            <a:ext cx="10287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7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Secure Coding: Follow OWASP Top 10 guidance; never hardcode secrets or tokens in repositories.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2916936"/>
            <a:ext cx="118872" cy="118872"/>
          </a:xfrm>
          <a:prstGeom prst="ellipse">
            <a:avLst/>
          </a:prstGeom>
          <a:solidFill>
            <a:srgbClr val="49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87552" y="2843784"/>
            <a:ext cx="10287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7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Peer Code Reviews: Secondary approval is required before merging into main branches.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3630168"/>
            <a:ext cx="118872" cy="118872"/>
          </a:xfrm>
          <a:prstGeom prst="ellipse">
            <a:avLst/>
          </a:prstGeom>
          <a:solidFill>
            <a:srgbClr val="49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87552" y="3557016"/>
            <a:ext cx="10287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7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Pipeline Security: SAST/DAST security scans must pass before production releases.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4343400"/>
            <a:ext cx="118872" cy="118872"/>
          </a:xfrm>
          <a:prstGeom prst="ellipse">
            <a:avLst/>
          </a:prstGeom>
          <a:solidFill>
            <a:srgbClr val="49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87552" y="4270248"/>
            <a:ext cx="10287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7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Change Approvals: Production deployments require documented Jira tickets and rollback plans.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6E78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ISMS-TRN-001 | v1.0 | Internal Use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4EB3B02-EB32-4E49-6E7A-3BEC0AAB0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116" y="119469"/>
            <a:ext cx="854647" cy="72502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60D5C7D3-1D23-A924-E518-13DEC3ADBD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3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8813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Managing ICT Supplier Risks</a:t>
            </a:r>
          </a:p>
        </p:txBody>
      </p:sp>
      <p:sp>
        <p:nvSpPr>
          <p:cNvPr id="5" name="Oval 4"/>
          <p:cNvSpPr/>
          <p:nvPr/>
        </p:nvSpPr>
        <p:spPr>
          <a:xfrm>
            <a:off x="749808" y="1490472"/>
            <a:ext cx="118872" cy="118872"/>
          </a:xfrm>
          <a:prstGeom prst="ellipse">
            <a:avLst/>
          </a:prstGeom>
          <a:solidFill>
            <a:srgbClr val="49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87552" y="1417320"/>
            <a:ext cx="10287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7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Our security extends to SaaS tools, cloud vendors, external contractors, and libraries.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203704"/>
            <a:ext cx="118872" cy="118872"/>
          </a:xfrm>
          <a:prstGeom prst="ellipse">
            <a:avLst/>
          </a:prstGeom>
          <a:solidFill>
            <a:srgbClr val="49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7552" y="2130552"/>
            <a:ext cx="10287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7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All new software, SaaS platforms, or vendor tools require CISO / Security risk assessment before purchase.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2916936"/>
            <a:ext cx="118872" cy="118872"/>
          </a:xfrm>
          <a:prstGeom prst="ellipse">
            <a:avLst/>
          </a:prstGeom>
          <a:solidFill>
            <a:srgbClr val="49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87552" y="2843784"/>
            <a:ext cx="10287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7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NDAs and DPAs are required before granting data access, where applicable.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3630168"/>
            <a:ext cx="118872" cy="118872"/>
          </a:xfrm>
          <a:prstGeom prst="ellipse">
            <a:avLst/>
          </a:prstGeom>
          <a:solidFill>
            <a:srgbClr val="49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87552" y="3557016"/>
            <a:ext cx="10287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7"/>
                </a:solidFill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Keep open-source software libraries updated to address supply-chain vulnerabilities.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6E78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ISMS-TRN-001 | v1.0 | Internal Use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3C7FDB3-EE43-3EBE-A554-316C0C2541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116" y="119469"/>
            <a:ext cx="854647" cy="72502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9BF19A9D-02AF-0631-320B-19DDDC7848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3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8813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Operational Resilience &amp; Backups</a:t>
            </a:r>
          </a:p>
        </p:txBody>
      </p:sp>
      <p:sp>
        <p:nvSpPr>
          <p:cNvPr id="5" name="Oval 4"/>
          <p:cNvSpPr/>
          <p:nvPr/>
        </p:nvSpPr>
        <p:spPr>
          <a:xfrm>
            <a:off x="749808" y="1490472"/>
            <a:ext cx="118872" cy="118872"/>
          </a:xfrm>
          <a:prstGeom prst="ellipse">
            <a:avLst/>
          </a:prstGeom>
          <a:solidFill>
            <a:srgbClr val="49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87552" y="1417320"/>
            <a:ext cx="10287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7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Automated daily backups are maintained for core databases, code repositories, and file systems.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203704"/>
            <a:ext cx="118872" cy="118872"/>
          </a:xfrm>
          <a:prstGeom prst="ellipse">
            <a:avLst/>
          </a:prstGeom>
          <a:solidFill>
            <a:srgbClr val="49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7552" y="2130552"/>
            <a:ext cx="10287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7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RTO (Recovery Time Objective): Target maximum allowable downtime.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2916936"/>
            <a:ext cx="118872" cy="118872"/>
          </a:xfrm>
          <a:prstGeom prst="ellipse">
            <a:avLst/>
          </a:prstGeom>
          <a:solidFill>
            <a:srgbClr val="49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87552" y="2843784"/>
            <a:ext cx="10287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7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RPO (Recovery Point Objective): Target maximum acceptable data loss window.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3630168"/>
            <a:ext cx="118872" cy="118872"/>
          </a:xfrm>
          <a:prstGeom prst="ellipse">
            <a:avLst/>
          </a:prstGeom>
          <a:solidFill>
            <a:srgbClr val="49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87552" y="3557016"/>
            <a:ext cx="10287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7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During disruptions: follow emergency notification channels and report outages immediately.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4343400"/>
            <a:ext cx="118872" cy="118872"/>
          </a:xfrm>
          <a:prstGeom prst="ellipse">
            <a:avLst/>
          </a:prstGeom>
          <a:solidFill>
            <a:srgbClr val="49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87552" y="4270248"/>
            <a:ext cx="10287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7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Use designated backup communication tools during failover drills.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6E78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ISMS-TRN-001 | v1.0 | Internal Use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F658F1C-19AF-B470-754E-0F52FD91D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116" y="119469"/>
            <a:ext cx="854647" cy="72502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479797D3-2F49-DE10-AE08-B86A0BDE7B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3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8813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How to Report Security Incidents</a:t>
            </a:r>
          </a:p>
        </p:txBody>
      </p:sp>
      <p:sp>
        <p:nvSpPr>
          <p:cNvPr id="5" name="Oval 4"/>
          <p:cNvSpPr/>
          <p:nvPr/>
        </p:nvSpPr>
        <p:spPr>
          <a:xfrm>
            <a:off x="749808" y="1490472"/>
            <a:ext cx="118872" cy="118872"/>
          </a:xfrm>
          <a:prstGeom prst="ellipse">
            <a:avLst/>
          </a:prstGeom>
          <a:solidFill>
            <a:srgbClr val="49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87552" y="1417320"/>
            <a:ext cx="10287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7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What counts: lost/stolen company device; misdirected sensitive email; suspicious link or credential entry; malware pop-ups or unexpected system behavior.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404872"/>
            <a:ext cx="118872" cy="118872"/>
          </a:xfrm>
          <a:prstGeom prst="ellipse">
            <a:avLst/>
          </a:prstGeom>
          <a:solidFill>
            <a:srgbClr val="49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7552" y="2331720"/>
            <a:ext cx="10287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7"/>
                </a:solidFill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Contact: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itadmin@briskon.com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749808" y="3118104"/>
            <a:ext cx="118872" cy="118872"/>
          </a:xfrm>
          <a:prstGeom prst="ellipse">
            <a:avLst/>
          </a:prstGeom>
          <a:solidFill>
            <a:srgbClr val="49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87552" y="3044952"/>
            <a:ext cx="10287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7"/>
                </a:solidFill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Slack/Teams: #security-incidents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3831336"/>
            <a:ext cx="118872" cy="118872"/>
          </a:xfrm>
          <a:prstGeom prst="ellipse">
            <a:avLst/>
          </a:prstGeom>
          <a:solidFill>
            <a:srgbClr val="49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87552" y="3758184"/>
            <a:ext cx="10287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7"/>
                </a:solidFill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NO-BLAME CULTURE: Immediate reporting reduces impact and enables swift containment.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6E78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ISMS-TRN-001 | v1.0 | Internal Use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5620FBE-4550-8549-7A41-DC31DDFF6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116" y="119469"/>
            <a:ext cx="854647" cy="72502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2A6B5C96-3DAF-358D-3950-494D7EF010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3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8813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Your Daily Security Checklist</a:t>
            </a:r>
          </a:p>
        </p:txBody>
      </p:sp>
      <p:sp>
        <p:nvSpPr>
          <p:cNvPr id="5" name="Oval 4"/>
          <p:cNvSpPr/>
          <p:nvPr/>
        </p:nvSpPr>
        <p:spPr>
          <a:xfrm>
            <a:off x="749808" y="1490472"/>
            <a:ext cx="118872" cy="118872"/>
          </a:xfrm>
          <a:prstGeom prst="ellipse">
            <a:avLst/>
          </a:prstGeom>
          <a:solidFill>
            <a:srgbClr val="49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87552" y="1417320"/>
            <a:ext cx="10287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7"/>
                </a:solidFill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Set strong passwords and use MFA everywhere.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203704"/>
            <a:ext cx="118872" cy="118872"/>
          </a:xfrm>
          <a:prstGeom prst="ellipse">
            <a:avLst/>
          </a:prstGeom>
          <a:solidFill>
            <a:srgbClr val="49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7552" y="2130552"/>
            <a:ext cx="10287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7"/>
                </a:solidFill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Lock your workstation whenever you leave your desk.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2916936"/>
            <a:ext cx="118872" cy="118872"/>
          </a:xfrm>
          <a:prstGeom prst="ellipse">
            <a:avLst/>
          </a:prstGeom>
          <a:solidFill>
            <a:srgbClr val="49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87552" y="2843784"/>
            <a:ext cx="10287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7"/>
                </a:solidFill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Be cautious with external links, attachments, and urgent requests.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3630168"/>
            <a:ext cx="118872" cy="118872"/>
          </a:xfrm>
          <a:prstGeom prst="ellipse">
            <a:avLst/>
          </a:prstGeom>
          <a:solidFill>
            <a:srgbClr val="49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87552" y="3557016"/>
            <a:ext cx="10287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7"/>
                </a:solidFill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Store confidential documents in official, encrypted cloud storage.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4343400"/>
            <a:ext cx="118872" cy="118872"/>
          </a:xfrm>
          <a:prstGeom prst="ellipse">
            <a:avLst/>
          </a:prstGeom>
          <a:solidFill>
            <a:srgbClr val="49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87552" y="4270248"/>
            <a:ext cx="10287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7"/>
                </a:solidFill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Report lost devices, phishing attempts, or anomalies immediately.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6E78"/>
                </a:solidFill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ISMS-TRN-001 | v1.0 | Internal Use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33B3D45-213A-86FB-05DC-694360642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116" y="119469"/>
            <a:ext cx="854647" cy="72502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EA7C49-109C-8140-17F0-85FB8AE72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89F629-7086-DF39-C55E-38EC7469C5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2607" y="83476"/>
            <a:ext cx="854647" cy="72502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4405903-A79A-D191-47E0-3B1D43E5CBA8}"/>
              </a:ext>
            </a:extLst>
          </p:cNvPr>
          <p:cNvSpPr txBox="1"/>
          <p:nvPr/>
        </p:nvSpPr>
        <p:spPr>
          <a:xfrm>
            <a:off x="4647173" y="2721114"/>
            <a:ext cx="2897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Thank You </a:t>
            </a:r>
            <a:endParaRPr lang="en-IN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10C506-905F-428F-AEB6-64735830DEE2}"/>
              </a:ext>
            </a:extLst>
          </p:cNvPr>
          <p:cNvSpPr txBox="1"/>
          <p:nvPr/>
        </p:nvSpPr>
        <p:spPr>
          <a:xfrm>
            <a:off x="594360" y="647395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6E78"/>
                </a:solidFill>
              </a:defRPr>
            </a:pPr>
            <a:r>
              <a:rPr dirty="0"/>
              <a:t>ISMS-TRN-001 | v1.0 | Internal Use</a:t>
            </a:r>
          </a:p>
        </p:txBody>
      </p:sp>
    </p:spTree>
    <p:extLst>
      <p:ext uri="{BB962C8B-B14F-4D97-AF65-F5344CB8AC3E}">
        <p14:creationId xmlns:p14="http://schemas.microsoft.com/office/powerpoint/2010/main" val="2478790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1449</Words>
  <Application>Microsoft Office PowerPoint</Application>
  <PresentationFormat>Widescreen</PresentationFormat>
  <Paragraphs>139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Bharath Gowda</cp:lastModifiedBy>
  <cp:revision>3</cp:revision>
  <dcterms:created xsi:type="dcterms:W3CDTF">2013-01-27T09:14:00Z</dcterms:created>
  <dcterms:modified xsi:type="dcterms:W3CDTF">2026-09-25T11:39:17Z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D80CE32E2C3A4141B56AA95AD5B8705C_13</vt:lpwstr>
  </property>
  <property fmtid="{D5CDD505-2E9C-101B-9397-08002B2CF9AE}" pid="3" name="KSOProductBuildVer">
    <vt:lpwstr>1033-12.1.0.28485</vt:lpwstr>
  </property>
</Properties>
</file>